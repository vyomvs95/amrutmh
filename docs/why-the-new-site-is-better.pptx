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7316"/>
                </a:solidFill>
                <a:latin typeface="Helvetica Neue"/>
              </a:rPr>
              <a:t>अमृत महाराष्ट्र  ·  संकेतस्थळ पुनर्रचना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600" b="0">
                <a:solidFill>
                  <a:srgbClr val="FFF7ED"/>
                </a:solidFill>
                <a:latin typeface="Georgia"/>
              </a:rPr>
              <a:t>Why the new portal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C9BFB6"/>
                </a:solidFill>
                <a:latin typeface="Helvetica Neue"/>
              </a:rPr>
              <a:t>A redesign of amrutmaharashtra.org for the people it is actually meant to reach — rural Maharashtra, in Marathi, on a slow connection.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A7F76"/>
                </a:solidFill>
                <a:latin typeface="Helvetica Neue"/>
              </a:rPr>
              <a:t>Same content.  Same colours.  Same institution.  Everything else rebuilt.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1A1613"/>
                </a:solidFill>
                <a:latin typeface="Georgia"/>
              </a:rPr>
              <a:t>Today the portal is a magazine that happens
to be run by a government agency.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700" b="0">
                <a:solidFill>
                  <a:srgbClr val="3F3730"/>
                </a:solidFill>
                <a:latin typeface="Helvetica Neue"/>
              </a:rPr>
              <a:t>Every success story ends the same way: here is who qualifies, 24 castes, income under ₹8 lakh — now go contact your district office.</a:t>
            </a:r>
          </a:p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700" b="0">
                <a:solidFill>
                  <a:srgbClr val="3F3730"/>
                </a:solidFill>
                <a:latin typeface="Helvetica Neue"/>
              </a:rPr>
              <a:t>The site never says where that office is. It never links the scheme. It never offers a way to apply.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1">
                <a:solidFill>
                  <a:srgbClr val="D35400"/>
                </a:solidFill>
                <a:latin typeface="Helvetica Neue"/>
              </a:rPr>
              <a:t>A reader who has just been convinced has nowhere to 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2514600"/>
            <a:ext cx="4572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83464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0">
                <a:solidFill>
                  <a:srgbClr val="F97316"/>
                </a:solidFill>
                <a:latin typeface="Georgia"/>
              </a:rPr>
              <a:t>2,664</a:t>
            </a:r>
          </a:p>
          <a:p>
            <a:pPr algn="l">
              <a:spcAft>
                <a:spcPts val="1800"/>
              </a:spcAft>
            </a:pPr>
            <a:r>
              <a:rPr sz="1300" b="0">
                <a:solidFill>
                  <a:srgbClr val="9B8F85"/>
                </a:solidFill>
                <a:latin typeface="Helvetica Neue"/>
              </a:rPr>
              <a:t>articles published</a:t>
            </a:r>
          </a:p>
          <a:p>
            <a:pPr algn="l">
              <a:spcAft>
                <a:spcPts val="0"/>
              </a:spcAft>
            </a:pPr>
            <a:r>
              <a:rPr sz="4400" b="0">
                <a:solidFill>
                  <a:srgbClr val="1A1613"/>
                </a:solidFill>
                <a:latin typeface="Georgia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B8F85"/>
                </a:solidFill>
                <a:latin typeface="Helvetica Neue"/>
              </a:rPr>
              <a:t>of them lead anywhere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THE HOMEPAGE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81F16"/>
                </a:solidFill>
                <a:latin typeface="Helvetica Neue"/>
              </a:rPr>
              <a:t>BEFORE  ·  amrutmaharashtra.org</a:t>
            </a:r>
          </a:p>
        </p:txBody>
      </p:sp>
      <p:pic>
        <p:nvPicPr>
          <p:cNvPr id="5" name="Picture 4" descr="old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5120640" cy="2537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8745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6640"/>
                </a:solidFill>
                <a:latin typeface="Helvetica Neue"/>
              </a:rPr>
              <a:t>AFTER  ·  amrut-mh.vercel.app</a:t>
            </a:r>
          </a:p>
        </p:txBody>
      </p:sp>
      <p:pic>
        <p:nvPicPr>
          <p:cNvPr id="7" name="Picture 6" descr="new-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120640" cy="2537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Three stacked bars of chrome take a quarter of the screen. Sixteen categories compete at equal weight. Saffron runs everything, so nothing leads.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2920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One person, one photograph, rotating through five stories. The masthead is 64px. Saffron is spent once — on the thing you should do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COLOUR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We did not change a single colour.
We changed how much of each you see.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The palette is AMRUT's own, read straight out of the live stylesheet — not matched by eye.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On the live site saffron runs the header, the nav bar, the buttons, the headings and the links, all at full strength. When everything shouts, nothing is heard.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1">
                <a:solidFill>
                  <a:srgbClr val="D35400"/>
                </a:solidFill>
                <a:latin typeface="Helvetica Neue"/>
              </a:rPr>
              <a:t>Now it covers about 5% of the surface and marks one thing per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514600"/>
            <a:ext cx="77724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58775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#F97316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8F85"/>
                </a:solidFill>
                <a:latin typeface="Helvetica Neue"/>
              </a:rPr>
              <a:t>Saffron — the accent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227832"/>
            <a:ext cx="777240" cy="566928"/>
          </a:xfrm>
          <a:prstGeom prst="rect">
            <a:avLst/>
          </a:prstGeom>
          <a:solidFill>
            <a:srgbClr val="D35400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33009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#D35400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8F85"/>
                </a:solidFill>
                <a:latin typeface="Helvetica Neue"/>
              </a:rPr>
              <a:t>Deep orange — 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941064"/>
            <a:ext cx="7772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401421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#FFF7ED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8F85"/>
                </a:solidFill>
                <a:latin typeface="Helvetica Neue"/>
              </a:rPr>
              <a:t>Cream — the 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654296"/>
            <a:ext cx="777240" cy="566928"/>
          </a:xfrm>
          <a:prstGeom prst="rect">
            <a:avLst/>
          </a:prstGeom>
          <a:solidFill>
            <a:srgbClr val="FFEDD5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7274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#FFEDD5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8F85"/>
                </a:solidFill>
                <a:latin typeface="Helvetica Neue"/>
              </a:rPr>
              <a:t>Cream 2 — panels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5367528"/>
            <a:ext cx="777240" cy="566928"/>
          </a:xfrm>
          <a:prstGeom prst="rect">
            <a:avLst/>
          </a:prstGeom>
          <a:solidFill>
            <a:srgbClr val="1A1613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54406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#1A1613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B8F85"/>
                </a:solidFill>
                <a:latin typeface="Helvetica Neue"/>
              </a:rPr>
              <a:t>Ink — the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B8F85"/>
                </a:solidFill>
                <a:latin typeface="Helvetica Neue"/>
              </a:rPr>
              <a:t>This matters for approval: it still reads as AMRUT's site, done properly — not as somebody rebranding a government portal.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Marathi set as Marathi — not as English
wearing a Devanagari font.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Most Indian government sites set Devanagari in a default font at a line-height borrowed from Latin. It comes out cramped: the shirorekha crowds, the matras collide. Readers feel it even when they cannot name it.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We use two faces drawn for Devanagari, not adapted to it: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00" b="1">
                <a:solidFill>
                  <a:srgbClr val="1A1613"/>
                </a:solidFill>
                <a:latin typeface="Helvetica Neue"/>
              </a:rPr>
              <a:t>Tiro Devanagari Marathi — a text serif designed specifically for Marathi. Headlines and article body.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1">
                <a:solidFill>
                  <a:srgbClr val="1A1613"/>
                </a:solidFill>
                <a:latin typeface="Helvetica Neue"/>
              </a:rPr>
              <a:t>Mukta, by Ek Type of Mumbai — navigation, metadata,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2606040"/>
            <a:ext cx="4572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88036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B8F85"/>
                </a:solidFill>
                <a:latin typeface="Helvetica Neue"/>
              </a:rPr>
              <a:t>Body line-height</a:t>
            </a:r>
          </a:p>
          <a:p>
            <a:pPr algn="l">
              <a:spcAft>
                <a:spcPts val="600"/>
              </a:spcAft>
            </a:pPr>
            <a:r>
              <a:rPr sz="4000" b="0">
                <a:solidFill>
                  <a:srgbClr val="F97316"/>
                </a:solidFill>
                <a:latin typeface="Georgia"/>
              </a:rPr>
              <a:t>1.90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for Devanagari, against the 1.5 a Latin face would take — the matras need the room.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No uppercase anywhere. It does not exist in Devanagari, and Latin caps set beside it read as a foreign 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35400"/>
                </a:solidFill>
                <a:latin typeface="Helvetica Neue"/>
              </a:rPr>
              <a:t>This is the single biggest differentiator available, and almost nobody in this sector takes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THE BIGGEST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Every story now leads somewhere.</a:t>
            </a:r>
          </a:p>
        </p:txBody>
      </p:sp>
      <p:pic>
        <p:nvPicPr>
          <p:cNvPr id="4" name="Picture 3" descr="new-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486400" cy="2718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At the end of each article the site now works out which scheme the story is actually about — from the article's own words — and offers it.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Who qualifies. The income limit. The district office. The helpline. A button that goes straight into the application portal.</a:t>
            </a: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600" b="0">
                <a:solidFill>
                  <a:srgbClr val="3F3730"/>
                </a:solidFill>
                <a:latin typeface="Helvetica Neue"/>
              </a:rPr>
              <a:t>Not one word of the article was changed. This is a new component placed after it.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1">
                <a:solidFill>
                  <a:srgbClr val="D35400"/>
                </a:solidFill>
                <a:latin typeface="Helvetica Neue"/>
              </a:rPr>
              <a:t>Do this, and 2,664 already-published stories become 2,664 entry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Helvetica Neue"/>
              </a:rPr>
              <a:t>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FFF7ED"/>
                </a:solidFill>
                <a:latin typeface="Georgia"/>
              </a:rPr>
              <a:t>The audience is on rural mobile data.
The old site does not act like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97316"/>
                </a:solidFill>
                <a:latin typeface="Georgia"/>
              </a:rPr>
              <a:t>~80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7ED"/>
                </a:solidFill>
                <a:latin typeface="Helvetica Neue"/>
              </a:rPr>
              <a:t>images on the homepage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8A7F76"/>
                </a:solidFill>
                <a:latin typeface="Helvetica Neue"/>
              </a:rPr>
              <a:t>none lazy-loaded, none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6517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97316"/>
                </a:solidFill>
                <a:latin typeface="Georgia"/>
              </a:rPr>
              <a:t>18×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7ED"/>
                </a:solidFill>
                <a:latin typeface="Helvetica Neue"/>
              </a:rPr>
              <a:t>oversized at worst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8A7F76"/>
                </a:solidFill>
                <a:latin typeface="Helvetica Neue"/>
              </a:rPr>
              <a:t>a 1600×2133 photo filling a 150×200 slot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6517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97316"/>
                </a:solidFill>
                <a:latin typeface="Georgia"/>
              </a:rPr>
              <a:t>152 MB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7ED"/>
                </a:solidFill>
                <a:latin typeface="Helvetica Neue"/>
              </a:rPr>
              <a:t>of original artwork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8A7F76"/>
                </a:solidFill>
                <a:latin typeface="Helvetica Neue"/>
              </a:rPr>
              <a:t>downloaded in full, every visit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solidFill>
            <a:srgbClr val="2A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75488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7ED"/>
                </a:solidFill>
                <a:latin typeface="Georgia"/>
              </a:rPr>
              <a:t>After:  152 MB  →  37 MB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C9BFB6"/>
                </a:solidFill>
                <a:latin typeface="Helvetica Neue"/>
              </a:rPr>
              <a:t>Every image rebuilt as WebP at three widths. The versions that fill the homepage average 24 KB each. Same pictures, roughly a tenth of the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A7F76"/>
                </a:solidFill>
                <a:latin typeface="Helvetica Neue"/>
              </a:rPr>
              <a:t>On a slow connection this is felt before anything else on this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Three things that quietly undermine
an official government site.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50292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102412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The visitor counter invents its own traffic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It climbed from 2,03,935 to 3,09,418 while we sat on the homepage — about a minute — then read 0 on every inner page. On a site whose footer says “This is an official government website”, that is the fastest way to lose a reader.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A6640"/>
                </a:solidFill>
                <a:latin typeface="Helvetica Neue"/>
              </a:rPr>
              <a:t>Now: report real analytics, or remove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83280"/>
            <a:ext cx="50292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83280"/>
            <a:ext cx="102412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The Contact button does nothing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संपर्क sits in the navigation styled as the one highlighted action, and is wired to nothing at all. There is no contact page anywhere on the site.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A6640"/>
                </a:solidFill>
                <a:latin typeface="Helvetica Neue"/>
              </a:rPr>
              <a:t>Now: a real contact route, and the details in the footer and the assistant.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00600"/>
            <a:ext cx="50292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800600"/>
            <a:ext cx="102412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The 404 page is somebody else's template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A wrong link lands on a stock illustration of a skateboarder. No masthead, no Marathi, no emblem, no way back. It is where every broken link ends.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A6640"/>
                </a:solidFill>
                <a:latin typeface="Helvetica Neue"/>
              </a:rPr>
              <a:t>Now: a proper page, in Marathi, listing all 16 sections.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2,664 Marathi articles that search
engines can barely see.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468880"/>
            <a:ext cx="10515600" cy="411480"/>
          </a:xfrm>
          <a:prstGeom prst="rect">
            <a:avLst/>
          </a:prstGeom>
          <a:solidFill>
            <a:srgbClr val="1A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51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7ED"/>
                </a:solidFill>
                <a:latin typeface="Helvetica Neu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551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7ED"/>
                </a:solidFill>
                <a:latin typeface="Helvetica Neue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551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7ED"/>
                </a:solidFill>
                <a:latin typeface="Helvetica Neue"/>
              </a:rP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80360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2666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robots.txt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2666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81F16"/>
                </a:solidFill>
                <a:latin typeface="Helvetica Neue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02666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40"/>
                </a:solidFill>
                <a:latin typeface="Helvetica Neue"/>
              </a:rPr>
              <a:t>Generated at 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47288"/>
            <a:ext cx="10515600" cy="566928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sitemap.xml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5935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81F16"/>
                </a:solidFill>
                <a:latin typeface="Helvetica Neue"/>
              </a:rPr>
              <a:t>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5935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40"/>
                </a:solidFill>
                <a:latin typeface="Helvetica Neue"/>
              </a:rPr>
              <a:t>Generated at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14215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Article URLs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160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81F16"/>
                </a:solidFill>
                <a:latin typeface="Helvetica Neue"/>
              </a:rPr>
              <a:t>news.php?id=3283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160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40"/>
                </a:solidFill>
                <a:latin typeface="Helvetica Neue"/>
              </a:rPr>
              <a:t>/beneficiary-story/3284/सोलापुरच्या…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581144"/>
            <a:ext cx="10515600" cy="566928"/>
          </a:xfrm>
          <a:prstGeom prst="rect">
            <a:avLst/>
          </a:prstGeom>
          <a:solidFill>
            <a:srgbClr val="F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274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Page titles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727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81F16"/>
                </a:solidFill>
                <a:latin typeface="Helvetica Neue"/>
              </a:rPr>
              <a:t>One generic title reused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7274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40"/>
                </a:solidFill>
                <a:latin typeface="Helvetica Neue"/>
              </a:rPr>
              <a:t>Per-page, in Marathi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48072"/>
            <a:ext cx="10515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613"/>
                </a:solidFill>
                <a:latin typeface="Helvetica Neue"/>
              </a:rPr>
              <a:t>Shared to 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29437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81F16"/>
                </a:solidFill>
                <a:latin typeface="Helvetica Neue"/>
              </a:rPr>
              <a:t>Previews as nothing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2943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40"/>
                </a:solidFill>
                <a:latin typeface="Helvetica Neue"/>
              </a:rPr>
              <a:t>Proper title, image and 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WhatsApp is how this content actually travels in Maharashtra. Right now a shared link arrives looking like nothing.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THE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The same words, made readable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81F16"/>
                </a:solidFill>
                <a:latin typeface="Helvetica Neue"/>
              </a:rPr>
              <a:t>BEFORE</a:t>
            </a:r>
          </a:p>
        </p:txBody>
      </p:sp>
      <p:pic>
        <p:nvPicPr>
          <p:cNvPr id="5" name="Picture 4" descr="old-arti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5120640" cy="2537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8745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6640"/>
                </a:solidFill>
                <a:latin typeface="Helvetica Neue"/>
              </a:rPr>
              <a:t>AFTER</a:t>
            </a:r>
          </a:p>
        </p:txBody>
      </p:sp>
      <p:pic>
        <p:nvPicPr>
          <p:cNvPr id="7" name="Picture 6" descr="new-artic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120640" cy="2537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02920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Text runs the full width of the screen. The office address and the standing “about AMRUT” paragraph sit mid-story as if they were part of it. No navigation — the only way out is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2920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F3730"/>
                </a:solidFill>
                <a:latin typeface="Helvetica Neue"/>
              </a:rPr>
              <a:t>A measured reading column. Author, date, district and views in a quiet margin. The office and the boilerplate lifted out and given their own place — same words, no longer read as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An assistant that answers in Marathi —
and refuses to make things up.</a:t>
            </a:r>
          </a:p>
        </p:txBody>
      </p:sp>
      <p:pic>
        <p:nvPicPr>
          <p:cNvPr id="4" name="Picture 3" descr="new-assist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486400" cy="2718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50" b="0">
                <a:solidFill>
                  <a:srgbClr val="3F3730"/>
                </a:solidFill>
                <a:latin typeface="Helvetica Neue"/>
              </a:rPr>
              <a:t>It handles eligibility, the four live schemes, how to apply, what documents are needed, district offices and contact — and searches every story on the site.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50" b="0">
                <a:solidFill>
                  <a:srgbClr val="3F3730"/>
                </a:solidFill>
                <a:latin typeface="Helvetica Neue"/>
              </a:rPr>
              <a:t>Every answer is built from this site's own content. It cannot invent an eligibility rule or an office address.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550" b="0">
                <a:solidFill>
                  <a:srgbClr val="3F3730"/>
                </a:solidFill>
                <a:latin typeface="Helvetica Neue"/>
              </a:rPr>
              <a:t>Ask it for a district office and it gives Solapur — the only one AMRUT actually publishes — and points to the head office for the rest.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1">
                <a:solidFill>
                  <a:srgbClr val="D35400"/>
                </a:solidFill>
                <a:latin typeface="Helvetica Neue"/>
              </a:rPr>
              <a:t>On a government portal, being right matters more than sounding fluent.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97316"/>
                </a:solidFill>
                <a:latin typeface="Helvetica Neue"/>
              </a:rPr>
              <a:t>IN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FFF7ED"/>
                </a:solidFill>
                <a:latin typeface="Georgia"/>
              </a:rPr>
              <a:t>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95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Homepage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95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~152 MB of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395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37 MB, 24 KB per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Masthead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52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~200 px,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852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64 px, sticky rail below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10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Navigation on inner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0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Disappears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10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Follows you down every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673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Where a story 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Nowhere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The scheme it is about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Contact 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24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Does nothing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2245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Works, plus an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81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404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81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Stock skateboarder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681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In Marathi, all 16 sections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solidFill>
            <a:srgbClr val="24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138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robots.txt / sitemap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38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Neither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138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Both, generated at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96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7ED"/>
                </a:solidFill>
                <a:latin typeface="Helvetica Neue"/>
              </a:rPr>
              <a:t>Marathi typography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596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27A72"/>
                </a:solidFill>
                <a:latin typeface="Helvetica Neue"/>
              </a:rPr>
              <a:t>Latin line-height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596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7FC49E"/>
                </a:solidFill>
                <a:latin typeface="Helvetica Neue"/>
              </a:rPr>
              <a:t>Set for Devanagari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5400"/>
                </a:solidFill>
                <a:latin typeface="Helvetica Neue"/>
              </a:rPr>
              <a:t>BEING STRAIGHT WITH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>
                <a:solidFill>
                  <a:srgbClr val="1A1613"/>
                </a:solidFill>
                <a:latin typeface="Georgia"/>
              </a:rPr>
              <a:t>What this is not,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50292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It is a proof, not a migration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24 articles per category are loaded, out of 2,664. The templates are finished; the rest is data through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27248"/>
            <a:ext cx="50292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27248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Mobile is unverified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Built mobile-first with no fixed widths, but not yet confirmed on a real handset. That is the first thing to 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51376"/>
            <a:ext cx="50292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51376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The content is a snapshot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Collected 28 August 2026 and static. Database access would keep it live and is worth asking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75504"/>
            <a:ext cx="50292" cy="868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175504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A1613"/>
                </a:solidFill>
                <a:latin typeface="Helvetica Neue"/>
              </a:rPr>
              <a:t>Photography is the real ceiling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F3730"/>
                </a:solidFill>
                <a:latin typeface="Helvetica Neue"/>
              </a:rPr>
              <a:t>Group shots under fluorescent light, GPS watermarks, posters with text baked in. The design is forgiving of it — but a one-page shot standard for the 36 district offices would lift this site further than another round of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9B8F85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FFF7ED"/>
                </a:solidFill>
                <a:latin typeface="Georgia"/>
              </a:rPr>
              <a:t>The design was never the hard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800" b="0">
                <a:solidFill>
                  <a:srgbClr val="C9BFB6"/>
                </a:solidFill>
                <a:latin typeface="Helvetica Neue"/>
              </a:rPr>
              <a:t>AMRUT already has the stories, the schemes and offices in all 36 districts. What was missing was the path between them.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1">
                <a:solidFill>
                  <a:srgbClr val="F97316"/>
                </a:solidFill>
                <a:latin typeface="Helvetica Neue"/>
              </a:rPr>
              <a:t>Build the scheme directory, the district office finder and the eligibility check, and every article already published becomes a way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7ED"/>
                </a:solidFill>
                <a:latin typeface="Helvetica Neue"/>
              </a:rPr>
              <a:t>amrut-mh.vercel.app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